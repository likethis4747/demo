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284" r:id="rId4"/>
    <p:sldId id="402" r:id="rId5"/>
    <p:sldId id="403" r:id="rId6"/>
    <p:sldId id="400" r:id="rId7"/>
    <p:sldId id="318" r:id="rId8"/>
    <p:sldId id="405" r:id="rId9"/>
    <p:sldId id="404" r:id="rId10"/>
    <p:sldId id="259" r:id="rId11"/>
    <p:sldId id="257" r:id="rId12"/>
    <p:sldId id="261" r:id="rId13"/>
    <p:sldId id="413" r:id="rId14"/>
    <p:sldId id="258" r:id="rId15"/>
    <p:sldId id="408" r:id="rId16"/>
    <p:sldId id="411" r:id="rId17"/>
    <p:sldId id="407" r:id="rId18"/>
    <p:sldId id="409" r:id="rId19"/>
    <p:sldId id="412" r:id="rId20"/>
    <p:sldId id="262" r:id="rId21"/>
    <p:sldId id="406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0B4"/>
    <a:srgbClr val="FBDDDE"/>
    <a:srgbClr val="E1EEE6"/>
    <a:srgbClr val="E1EDE6"/>
    <a:srgbClr val="EB5F15"/>
    <a:srgbClr val="FFFFFF"/>
    <a:srgbClr val="724C39"/>
    <a:srgbClr val="734E3B"/>
    <a:srgbClr val="626262"/>
    <a:srgbClr val="FFC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0" autoAdjust="0"/>
    <p:restoredTop sz="79490" autoAdjust="0"/>
  </p:normalViewPr>
  <p:slideViewPr>
    <p:cSldViewPr snapToGrid="0" showGuides="1">
      <p:cViewPr varScale="1">
        <p:scale>
          <a:sx n="55" d="100"/>
          <a:sy n="55" d="100"/>
        </p:scale>
        <p:origin x="75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44DC3-A18F-4022-908F-7E9C8FDCF2C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9FABD-524A-446D-A66D-D9B1D0C24A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59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9FABD-524A-446D-A66D-D9B1D0C24A8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860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9FABD-524A-446D-A66D-D9B1D0C24A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639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9FABD-524A-446D-A66D-D9B1D0C24A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91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9FABD-524A-446D-A66D-D9B1D0C24A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849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19FABD-524A-446D-A66D-D9B1D0C24A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98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答辩模版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5C080-088C-4706-9761-65708E47AD5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67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432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306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74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37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75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22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87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836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21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47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159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1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059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410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317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676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657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121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03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297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75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B64B5-1F27-41FC-923E-2DC507E07EDE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0BA37-0955-4DBA-8F7D-0B0913CAB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32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0D8B0-E5CE-400F-8448-A6AD0C98878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56325-FE0E-4BBC-B1D2-F9BD0AD09AA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53201"/>
            <a:ext cx="12192000" cy="314325"/>
          </a:xfrm>
          <a:prstGeom prst="rect">
            <a:avLst/>
          </a:prstGeom>
          <a:solidFill>
            <a:srgbClr val="269F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271000" y="6553201"/>
            <a:ext cx="2921000" cy="315913"/>
          </a:xfrm>
          <a:prstGeom prst="rect">
            <a:avLst/>
          </a:prstGeom>
          <a:solidFill>
            <a:srgbClr val="7773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noChangeArrowheads="1"/>
          </p:cNvSpPr>
          <p:nvPr userDrawn="1"/>
        </p:nvSpPr>
        <p:spPr bwMode="auto">
          <a:xfrm rot="19117218">
            <a:off x="9014885" y="6351589"/>
            <a:ext cx="622300" cy="407987"/>
          </a:xfrm>
          <a:prstGeom prst="rtTriangle">
            <a:avLst/>
          </a:prstGeom>
          <a:solidFill>
            <a:srgbClr val="0C8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646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1074984" y="609917"/>
            <a:ext cx="10042032" cy="5648643"/>
          </a:xfrm>
          <a:prstGeom prst="rect">
            <a:avLst/>
          </a:prstGeom>
          <a:effectLst>
            <a:outerShdw blurRad="190500" sx="102000" sy="102000" algn="ctr" rotWithShape="0">
              <a:prstClr val="black">
                <a:alpha val="26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7153507" y="132080"/>
            <a:ext cx="390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i="1" spc="2000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Microsoft YaHei" panose="020B0503020204020204" pitchFamily="34" charset="-122"/>
                <a:cs typeface="Open Sans" panose="020B0606030504020204" pitchFamily="34" charset="0"/>
                <a:sym typeface="Open Sans" panose="020B0606030504020204" pitchFamily="34" charset="0"/>
              </a:rPr>
              <a:t>2026.07.20</a:t>
            </a:r>
            <a:endParaRPr lang="zh-CN" altLang="en-US" b="1" i="1" spc="2000" dirty="0">
              <a:solidFill>
                <a:schemeClr val="bg1">
                  <a:lumMod val="65000"/>
                </a:schemeClr>
              </a:solidFill>
              <a:latin typeface="Open Sans" panose="020B0606030504020204" pitchFamily="34" charset="0"/>
              <a:ea typeface="Microsoft YaHei" panose="020B0503020204020204" pitchFamily="34" charset="-122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74984" y="609917"/>
            <a:ext cx="10042032" cy="5120323"/>
            <a:chOff x="1074984" y="609917"/>
            <a:chExt cx="10042032" cy="5120323"/>
          </a:xfrm>
        </p:grpSpPr>
        <p:sp>
          <p:nvSpPr>
            <p:cNvPr id="19" name="矩形 18"/>
            <p:cNvSpPr/>
            <p:nvPr/>
          </p:nvSpPr>
          <p:spPr>
            <a:xfrm>
              <a:off x="1074984" y="609917"/>
              <a:ext cx="10042032" cy="2819083"/>
            </a:xfrm>
            <a:prstGeom prst="rect">
              <a:avLst/>
            </a:prstGeom>
            <a:solidFill>
              <a:srgbClr val="FFC02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en Sans" panose="020B0606030504020204" pitchFamily="34" charset="0"/>
                <a:ea typeface="Microsoft YaHei" panose="020B0503020204020204" pitchFamily="34" charset="-122"/>
                <a:sym typeface="Open Sans" panose="020B0606030504020204" pitchFamily="34" charset="0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580443" y="2179320"/>
              <a:ext cx="9293664" cy="3550920"/>
              <a:chOff x="1580443" y="2179320"/>
              <a:chExt cx="9293664" cy="355092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580443" y="2179320"/>
                <a:ext cx="9293664" cy="2489200"/>
                <a:chOff x="1580443" y="1564640"/>
                <a:chExt cx="9293664" cy="2489200"/>
              </a:xfrm>
            </p:grpSpPr>
            <p:sp>
              <p:nvSpPr>
                <p:cNvPr id="15" name="矩形 14"/>
                <p:cNvSpPr/>
                <p:nvPr/>
              </p:nvSpPr>
              <p:spPr>
                <a:xfrm>
                  <a:off x="2052320" y="1564640"/>
                  <a:ext cx="8097520" cy="248920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  <a:latin typeface="Open Sans" panose="020B0606030504020204" pitchFamily="34" charset="0"/>
                    <a:ea typeface="Microsoft YaHei" panose="020B0503020204020204" pitchFamily="34" charset="-122"/>
                    <a:sym typeface="Open Sans" panose="020B0606030504020204" pitchFamily="34" charset="0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1580443" y="2133200"/>
                  <a:ext cx="9293664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4800" b="1" spc="1400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Microsoft YaHei" panose="020B0503020204020204" pitchFamily="34" charset="-122"/>
                      <a:cs typeface="Open Sans" panose="020B0606030504020204" pitchFamily="34" charset="0"/>
                      <a:sym typeface="Open Sans" panose="020B0606030504020204" pitchFamily="34" charset="0"/>
                    </a:rPr>
                    <a:t>客户端命题发布</a:t>
                  </a:r>
                  <a:r>
                    <a:rPr lang="en-US" altLang="zh-CN" sz="4800" b="1" spc="1400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Microsoft YaHei" panose="020B0503020204020204" pitchFamily="34" charset="-122"/>
                      <a:cs typeface="Open Sans" panose="020B0606030504020204" pitchFamily="34" charset="0"/>
                      <a:sym typeface="Open Sans" panose="020B0606030504020204" pitchFamily="34" charset="0"/>
                    </a:rPr>
                    <a:t>&amp;</a:t>
                  </a:r>
                  <a:r>
                    <a:rPr lang="zh-CN" altLang="en-US" sz="4800" b="1" spc="1400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Microsoft YaHei" panose="020B0503020204020204" pitchFamily="34" charset="-122"/>
                      <a:cs typeface="Open Sans" panose="020B0606030504020204" pitchFamily="34" charset="0"/>
                      <a:sym typeface="Open Sans" panose="020B0606030504020204" pitchFamily="34" charset="0"/>
                    </a:rPr>
                    <a:t>答疑</a:t>
                  </a: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>
                  <a:off x="2600960" y="2997200"/>
                  <a:ext cx="6959600" cy="0"/>
                </a:xfrm>
                <a:prstGeom prst="line">
                  <a:avLst/>
                </a:prstGeom>
                <a:ln w="476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7"/>
                <p:cNvSpPr txBox="1"/>
                <p:nvPr/>
              </p:nvSpPr>
              <p:spPr>
                <a:xfrm>
                  <a:off x="2834640" y="3269863"/>
                  <a:ext cx="652272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spc="1200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Microsoft YaHei" panose="020B0503020204020204" pitchFamily="34" charset="-122"/>
                      <a:sym typeface="Open Sans" panose="020B0606030504020204" pitchFamily="34" charset="0"/>
                    </a:rPr>
                    <a:t>2026.07</a:t>
                  </a:r>
                  <a:endParaRPr lang="zh-CN" altLang="en-US" sz="2000" b="1" spc="1200" dirty="0">
                    <a:solidFill>
                      <a:schemeClr val="bg1"/>
                    </a:solidFill>
                    <a:latin typeface="Open Sans" panose="020B0606030504020204" pitchFamily="34" charset="0"/>
                    <a:ea typeface="Microsoft YaHei" panose="020B0503020204020204" pitchFamily="34" charset="-122"/>
                    <a:sym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 rot="5400000">
                <a:off x="5829300" y="5196840"/>
                <a:ext cx="533400" cy="533400"/>
                <a:chOff x="10756339" y="3063240"/>
                <a:chExt cx="721360" cy="721360"/>
              </a:xfrm>
            </p:grpSpPr>
            <p:sp>
              <p:nvSpPr>
                <p:cNvPr id="20" name="椭圆 19"/>
                <p:cNvSpPr/>
                <p:nvPr/>
              </p:nvSpPr>
              <p:spPr>
                <a:xfrm>
                  <a:off x="10756339" y="3063240"/>
                  <a:ext cx="721360" cy="721360"/>
                </a:xfrm>
                <a:prstGeom prst="ellipse">
                  <a:avLst/>
                </a:prstGeom>
                <a:solidFill>
                  <a:srgbClr val="FFC02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Open Sans" panose="020B0606030504020204" pitchFamily="34" charset="0"/>
                    <a:ea typeface="Microsoft YaHei" panose="020B0503020204020204" pitchFamily="34" charset="-122"/>
                    <a:sym typeface="Open Sans" panose="020B0606030504020204" pitchFamily="34" charset="0"/>
                  </a:endParaRPr>
                </a:p>
              </p:txBody>
            </p:sp>
            <p:sp>
              <p:nvSpPr>
                <p:cNvPr id="21" name="燕尾形 20"/>
                <p:cNvSpPr/>
                <p:nvPr/>
              </p:nvSpPr>
              <p:spPr>
                <a:xfrm>
                  <a:off x="10939485" y="3246386"/>
                  <a:ext cx="355068" cy="355068"/>
                </a:xfrm>
                <a:prstGeom prst="chevron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Open Sans" panose="020B0606030504020204" pitchFamily="34" charset="0"/>
                    <a:ea typeface="Microsoft YaHei" panose="020B0503020204020204" pitchFamily="34" charset="-122"/>
                    <a:sym typeface="Open Sans" panose="020B0606030504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7095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8971C0B-63CA-41B0-8B27-8A4274E1C887}"/>
              </a:ext>
            </a:extLst>
          </p:cNvPr>
          <p:cNvGrpSpPr/>
          <p:nvPr/>
        </p:nvGrpSpPr>
        <p:grpSpPr>
          <a:xfrm>
            <a:off x="443433" y="290628"/>
            <a:ext cx="6938392" cy="807223"/>
            <a:chOff x="393298" y="252625"/>
            <a:chExt cx="5409491" cy="807223"/>
          </a:xfrm>
        </p:grpSpPr>
        <p:sp>
          <p:nvSpPr>
            <p:cNvPr id="9" name="圆角矩形 2">
              <a:extLst>
                <a:ext uri="{FF2B5EF4-FFF2-40B4-BE49-F238E27FC236}">
                  <a16:creationId xmlns:a16="http://schemas.microsoft.com/office/drawing/2014/main" id="{E5190FE7-843E-40AA-A6AE-BD0B8889835D}"/>
                </a:ext>
              </a:extLst>
            </p:cNvPr>
            <p:cNvSpPr/>
            <p:nvPr/>
          </p:nvSpPr>
          <p:spPr>
            <a:xfrm flipH="1">
              <a:off x="393298" y="252625"/>
              <a:ext cx="45719" cy="80722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Microsoft YaHei" panose="020B0503020204020204" pitchFamily="34" charset="-122"/>
                <a:cs typeface="+mn-cs"/>
                <a:sym typeface="Open Sans" panose="020B0606030504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F736CC0-263D-40A4-A14F-D567A49746CA}"/>
                </a:ext>
              </a:extLst>
            </p:cNvPr>
            <p:cNvSpPr txBox="1"/>
            <p:nvPr/>
          </p:nvSpPr>
          <p:spPr>
            <a:xfrm>
              <a:off x="462112" y="424153"/>
              <a:ext cx="53406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60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cs typeface="+mn-cs"/>
                  <a:sym typeface="Open Sans" panose="020B0606030504020204" pitchFamily="34" charset="0"/>
                </a:rPr>
                <a:t>客户端命题发布会</a:t>
              </a:r>
              <a:r>
                <a:rPr kumimoji="0" lang="en-US" altLang="zh-CN" sz="2400" b="1" i="0" u="none" strike="noStrike" kern="1200" cap="none" spc="60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cs typeface="+mn-cs"/>
                  <a:sym typeface="Open Sans" panose="020B0606030504020204" pitchFamily="34" charset="0"/>
                </a:rPr>
                <a:t>&amp;</a:t>
              </a:r>
              <a:r>
                <a:rPr kumimoji="0" lang="zh-CN" altLang="en-US" sz="2400" b="1" i="0" u="none" strike="noStrike" kern="1200" cap="none" spc="60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cs typeface="+mn-cs"/>
                  <a:sym typeface="Open Sans" panose="020B0606030504020204" pitchFamily="34" charset="0"/>
                </a:rPr>
                <a:t>答疑</a:t>
              </a:r>
              <a:endParaRPr kumimoji="0" lang="zh-CN" altLang="en-US" sz="2400" b="1" i="0" u="none" strike="noStrike" kern="1200" cap="none" spc="6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 panose="020B0606030504020204" pitchFamily="34" charset="0"/>
                <a:ea typeface="Microsoft YaHei" panose="020B0503020204020204" pitchFamily="34" charset="-122"/>
                <a:sym typeface="Open Sans" panose="020B0606030504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9A43050A-108F-F602-8270-702140866072}"/>
              </a:ext>
            </a:extLst>
          </p:cNvPr>
          <p:cNvSpPr txBox="1"/>
          <p:nvPr/>
        </p:nvSpPr>
        <p:spPr>
          <a:xfrm>
            <a:off x="789140" y="1420929"/>
            <a:ext cx="9820406" cy="3658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主题：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程序化内容生成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核心玩法使用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的物理玩法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4400" indent="-284400"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、编码设计能体现技术能力；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4400" indent="-284400"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、游戏完整可玩，无明显崩溃、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4400" indent="-284400"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4400" indent="-284400"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、严禁抄袭剽窃；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4400" indent="-284400">
              <a:lnSpc>
                <a:spcPct val="13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中需要阐述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使用情况；</a:t>
            </a:r>
          </a:p>
        </p:txBody>
      </p:sp>
    </p:spTree>
    <p:extLst>
      <p:ext uri="{BB962C8B-B14F-4D97-AF65-F5344CB8AC3E}">
        <p14:creationId xmlns:p14="http://schemas.microsoft.com/office/powerpoint/2010/main" val="11096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8971C0B-63CA-41B0-8B27-8A4274E1C887}"/>
              </a:ext>
            </a:extLst>
          </p:cNvPr>
          <p:cNvGrpSpPr/>
          <p:nvPr/>
        </p:nvGrpSpPr>
        <p:grpSpPr>
          <a:xfrm>
            <a:off x="443433" y="290628"/>
            <a:ext cx="6938392" cy="807223"/>
            <a:chOff x="393298" y="252625"/>
            <a:chExt cx="5409491" cy="807223"/>
          </a:xfrm>
        </p:grpSpPr>
        <p:sp>
          <p:nvSpPr>
            <p:cNvPr id="9" name="圆角矩形 2">
              <a:extLst>
                <a:ext uri="{FF2B5EF4-FFF2-40B4-BE49-F238E27FC236}">
                  <a16:creationId xmlns:a16="http://schemas.microsoft.com/office/drawing/2014/main" id="{E5190FE7-843E-40AA-A6AE-BD0B8889835D}"/>
                </a:ext>
              </a:extLst>
            </p:cNvPr>
            <p:cNvSpPr/>
            <p:nvPr/>
          </p:nvSpPr>
          <p:spPr>
            <a:xfrm flipH="1">
              <a:off x="393298" y="252625"/>
              <a:ext cx="45719" cy="80722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Microsoft YaHei" panose="020B0503020204020204" pitchFamily="34" charset="-122"/>
                <a:cs typeface="+mn-cs"/>
                <a:sym typeface="Open Sans" panose="020B0606030504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F736CC0-263D-40A4-A14F-D567A49746CA}"/>
                </a:ext>
              </a:extLst>
            </p:cNvPr>
            <p:cNvSpPr txBox="1"/>
            <p:nvPr/>
          </p:nvSpPr>
          <p:spPr>
            <a:xfrm>
              <a:off x="462112" y="424153"/>
              <a:ext cx="53406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60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sym typeface="Open Sans" panose="020B0606030504020204" pitchFamily="34" charset="0"/>
                </a:rPr>
                <a:t>客户端中期评审参考框架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9A43050A-108F-F602-8270-702140866072}"/>
              </a:ext>
            </a:extLst>
          </p:cNvPr>
          <p:cNvSpPr txBox="1"/>
          <p:nvPr/>
        </p:nvSpPr>
        <p:spPr>
          <a:xfrm>
            <a:off x="789140" y="1420929"/>
            <a:ext cx="9820406" cy="5382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自我介绍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课题研究展示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设计目标：即为什么要进行这个设计，接下来的目标是什么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设计方案：设计方案介绍，即准备如何实现？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项目计划：整个项目推进的时间安排？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现有内容呈现与预期效果展望：已实现效果呈现与完成后形态预估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使用情况阐述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总结与思考（可选）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时长：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分钟展示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分钟问答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附录需要附上课题的工程地址，用于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review</a:t>
            </a:r>
            <a:endParaRPr lang="zh-CN" altLang="en-US" sz="16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278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8971C0B-63CA-41B0-8B27-8A4274E1C887}"/>
              </a:ext>
            </a:extLst>
          </p:cNvPr>
          <p:cNvGrpSpPr/>
          <p:nvPr/>
        </p:nvGrpSpPr>
        <p:grpSpPr>
          <a:xfrm>
            <a:off x="443433" y="290628"/>
            <a:ext cx="6938392" cy="807223"/>
            <a:chOff x="393298" y="252625"/>
            <a:chExt cx="5409491" cy="807223"/>
          </a:xfrm>
        </p:grpSpPr>
        <p:sp>
          <p:nvSpPr>
            <p:cNvPr id="9" name="圆角矩形 2">
              <a:extLst>
                <a:ext uri="{FF2B5EF4-FFF2-40B4-BE49-F238E27FC236}">
                  <a16:creationId xmlns:a16="http://schemas.microsoft.com/office/drawing/2014/main" id="{E5190FE7-843E-40AA-A6AE-BD0B8889835D}"/>
                </a:ext>
              </a:extLst>
            </p:cNvPr>
            <p:cNvSpPr/>
            <p:nvPr/>
          </p:nvSpPr>
          <p:spPr>
            <a:xfrm flipH="1">
              <a:off x="393298" y="252625"/>
              <a:ext cx="45719" cy="80722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Microsoft YaHei" panose="020B0503020204020204" pitchFamily="34" charset="-122"/>
                <a:cs typeface="+mn-cs"/>
                <a:sym typeface="Open Sans" panose="020B0606030504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F736CC0-263D-40A4-A14F-D567A49746CA}"/>
                </a:ext>
              </a:extLst>
            </p:cNvPr>
            <p:cNvSpPr txBox="1"/>
            <p:nvPr/>
          </p:nvSpPr>
          <p:spPr>
            <a:xfrm>
              <a:off x="462112" y="424153"/>
              <a:ext cx="53406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60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sym typeface="Open Sans" panose="020B0606030504020204" pitchFamily="34" charset="0"/>
                </a:rPr>
                <a:t>客户端末期评审参考框架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561C0D5-A5C5-9979-80DA-542E247F6555}"/>
              </a:ext>
            </a:extLst>
          </p:cNvPr>
          <p:cNvSpPr txBox="1"/>
          <p:nvPr/>
        </p:nvSpPr>
        <p:spPr>
          <a:xfrm>
            <a:off x="789140" y="1420929"/>
            <a:ext cx="9820406" cy="5382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自我介绍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课题研究展示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项目演示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设计思路解析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关键技术点设计及实现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应用介绍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分析报告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项目结果分析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项目实习内容秀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总结和思考（可选）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时长：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分钟展示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分钟问答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附录需要附上课题的工程地址，用于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review</a:t>
            </a:r>
            <a:endParaRPr lang="zh-CN" altLang="en-US" sz="16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896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C7DD01E-06EF-5EC4-9F1D-0E52DF54642B}"/>
              </a:ext>
            </a:extLst>
          </p:cNvPr>
          <p:cNvGrpSpPr/>
          <p:nvPr/>
        </p:nvGrpSpPr>
        <p:grpSpPr>
          <a:xfrm>
            <a:off x="443433" y="290628"/>
            <a:ext cx="6938392" cy="807223"/>
            <a:chOff x="393298" y="252625"/>
            <a:chExt cx="5409491" cy="807223"/>
          </a:xfrm>
        </p:grpSpPr>
        <p:sp>
          <p:nvSpPr>
            <p:cNvPr id="3" name="圆角矩形 2">
              <a:extLst>
                <a:ext uri="{FF2B5EF4-FFF2-40B4-BE49-F238E27FC236}">
                  <a16:creationId xmlns:a16="http://schemas.microsoft.com/office/drawing/2014/main" id="{0BF0A3C3-D79F-85B8-C79F-483C3307E0FF}"/>
                </a:ext>
              </a:extLst>
            </p:cNvPr>
            <p:cNvSpPr/>
            <p:nvPr/>
          </p:nvSpPr>
          <p:spPr>
            <a:xfrm flipH="1">
              <a:off x="393298" y="252625"/>
              <a:ext cx="45719" cy="80722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Microsoft YaHei" panose="020B0503020204020204" pitchFamily="34" charset="-122"/>
                <a:cs typeface="+mn-cs"/>
                <a:sym typeface="Open Sans" panose="020B0606030504020204" pitchFamily="34" charset="0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686E25F-CE0E-7803-5049-D951F33953D2}"/>
                </a:ext>
              </a:extLst>
            </p:cNvPr>
            <p:cNvSpPr txBox="1"/>
            <p:nvPr/>
          </p:nvSpPr>
          <p:spPr>
            <a:xfrm>
              <a:off x="462112" y="424153"/>
              <a:ext cx="53406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60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cs typeface="+mn-cs"/>
                  <a:sym typeface="Open Sans" panose="020B0606030504020204" pitchFamily="34" charset="0"/>
                </a:rPr>
                <a:t>后续时间安排</a:t>
              </a:r>
              <a:endParaRPr kumimoji="0" lang="zh-CN" altLang="en-US" sz="2400" b="1" i="0" u="none" strike="noStrike" kern="1200" cap="none" spc="60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Microsoft YaHei" panose="020B0503020204020204" pitchFamily="34" charset="-122"/>
                <a:sym typeface="Open Sans" panose="020B0606030504020204" pitchFamily="34" charset="0"/>
              </a:endParaRPr>
            </a:p>
          </p:txBody>
        </p:sp>
      </p:grp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77E91BD-80EF-6A4B-4419-09A5A18CFF1C}"/>
              </a:ext>
            </a:extLst>
          </p:cNvPr>
          <p:cNvCxnSpPr>
            <a:cxnSpLocks/>
          </p:cNvCxnSpPr>
          <p:nvPr/>
        </p:nvCxnSpPr>
        <p:spPr>
          <a:xfrm>
            <a:off x="443433" y="2711886"/>
            <a:ext cx="11130616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0187818-870B-FE1F-DA45-FDA7ABBBCAAC}"/>
              </a:ext>
            </a:extLst>
          </p:cNvPr>
          <p:cNvGrpSpPr/>
          <p:nvPr/>
        </p:nvGrpSpPr>
        <p:grpSpPr>
          <a:xfrm>
            <a:off x="1459280" y="2160464"/>
            <a:ext cx="1074333" cy="1055946"/>
            <a:chOff x="720246" y="2711608"/>
            <a:chExt cx="1074333" cy="105594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92A5AA3-6725-A212-03D9-B6400950D2FD}"/>
                </a:ext>
              </a:extLst>
            </p:cNvPr>
            <p:cNvSpPr txBox="1"/>
            <p:nvPr/>
          </p:nvSpPr>
          <p:spPr>
            <a:xfrm>
              <a:off x="720246" y="2711608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2D5E9A6-9F95-AA43-0DAA-874F4CC00ED5}"/>
                </a:ext>
              </a:extLst>
            </p:cNvPr>
            <p:cNvSpPr txBox="1"/>
            <p:nvPr/>
          </p:nvSpPr>
          <p:spPr>
            <a:xfrm>
              <a:off x="754711" y="3429000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命题发布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210FBCE-90CA-AFD3-24D4-6C26C074AF1F}"/>
              </a:ext>
            </a:extLst>
          </p:cNvPr>
          <p:cNvGrpSpPr/>
          <p:nvPr/>
        </p:nvGrpSpPr>
        <p:grpSpPr>
          <a:xfrm>
            <a:off x="3624195" y="2160464"/>
            <a:ext cx="1074333" cy="1302167"/>
            <a:chOff x="2613764" y="2711608"/>
            <a:chExt cx="1074333" cy="1302167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B2FF722-D15F-5B78-3DDA-4343060229F4}"/>
                </a:ext>
              </a:extLst>
            </p:cNvPr>
            <p:cNvSpPr txBox="1"/>
            <p:nvPr/>
          </p:nvSpPr>
          <p:spPr>
            <a:xfrm>
              <a:off x="2613764" y="2711608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29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3B26E40-6E00-C7EB-4D07-14D73E01D528}"/>
                </a:ext>
              </a:extLst>
            </p:cNvPr>
            <p:cNvSpPr txBox="1"/>
            <p:nvPr/>
          </p:nvSpPr>
          <p:spPr>
            <a:xfrm>
              <a:off x="2648229" y="3429000"/>
              <a:ext cx="10054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中期评审材料提交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F104CF-0AF6-B39E-EE37-76BD48308C95}"/>
              </a:ext>
            </a:extLst>
          </p:cNvPr>
          <p:cNvGrpSpPr/>
          <p:nvPr/>
        </p:nvGrpSpPr>
        <p:grpSpPr>
          <a:xfrm>
            <a:off x="5789110" y="2160464"/>
            <a:ext cx="1074333" cy="1302167"/>
            <a:chOff x="4325654" y="2711608"/>
            <a:chExt cx="1074333" cy="1302167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4FA942F-AC64-6D0A-A2BD-02227EEE6599}"/>
                </a:ext>
              </a:extLst>
            </p:cNvPr>
            <p:cNvSpPr txBox="1"/>
            <p:nvPr/>
          </p:nvSpPr>
          <p:spPr>
            <a:xfrm>
              <a:off x="4325654" y="2711608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31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38020A7-2249-91C1-344E-A436DD9B701F}"/>
                </a:ext>
              </a:extLst>
            </p:cNvPr>
            <p:cNvSpPr txBox="1"/>
            <p:nvPr/>
          </p:nvSpPr>
          <p:spPr>
            <a:xfrm>
              <a:off x="4360119" y="3429000"/>
              <a:ext cx="10054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中期评审现场反馈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2942D34-5D82-85E4-0E0F-AB377F2B7888}"/>
              </a:ext>
            </a:extLst>
          </p:cNvPr>
          <p:cNvGrpSpPr/>
          <p:nvPr/>
        </p:nvGrpSpPr>
        <p:grpSpPr>
          <a:xfrm>
            <a:off x="7974463" y="2160464"/>
            <a:ext cx="1233030" cy="1055946"/>
            <a:chOff x="7235429" y="2711608"/>
            <a:chExt cx="1233030" cy="1055946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1CD665D-FA07-F22B-0781-A276D46894A2}"/>
                </a:ext>
              </a:extLst>
            </p:cNvPr>
            <p:cNvSpPr txBox="1"/>
            <p:nvPr/>
          </p:nvSpPr>
          <p:spPr>
            <a:xfrm>
              <a:off x="7235429" y="2711608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82AD6F3-87E9-BAC9-FB3C-C8CF18BB8B0D}"/>
                </a:ext>
              </a:extLst>
            </p:cNvPr>
            <p:cNvSpPr txBox="1"/>
            <p:nvPr/>
          </p:nvSpPr>
          <p:spPr>
            <a:xfrm>
              <a:off x="7463056" y="3429000"/>
              <a:ext cx="10054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末期答辩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74565631-D825-3C51-A8F8-E3D35A40200C}"/>
              </a:ext>
            </a:extLst>
          </p:cNvPr>
          <p:cNvSpPr txBox="1"/>
          <p:nvPr/>
        </p:nvSpPr>
        <p:spPr>
          <a:xfrm>
            <a:off x="206680" y="4132917"/>
            <a:ext cx="5320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中期评审格式不限，以说明思路和实现设计为主</a:t>
            </a:r>
          </a:p>
        </p:txBody>
      </p:sp>
    </p:spTree>
    <p:extLst>
      <p:ext uri="{BB962C8B-B14F-4D97-AF65-F5344CB8AC3E}">
        <p14:creationId xmlns:p14="http://schemas.microsoft.com/office/powerpoint/2010/main" val="4085103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1074984" y="609917"/>
            <a:ext cx="10042032" cy="5648643"/>
          </a:xfrm>
          <a:prstGeom prst="rect">
            <a:avLst/>
          </a:prstGeom>
          <a:effectLst>
            <a:outerShdw blurRad="190500" sx="102000" sy="102000" algn="ctr" rotWithShape="0">
              <a:prstClr val="black">
                <a:alpha val="26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7591496" y="132080"/>
            <a:ext cx="352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200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Microsoft YaHei" panose="020B0503020204020204" pitchFamily="34" charset="-122"/>
                <a:cs typeface="Open Sans" panose="020B0606030504020204" pitchFamily="34" charset="0"/>
                <a:sym typeface="Open Sans" panose="020B0606030504020204" pitchFamily="34" charset="0"/>
              </a:rPr>
              <a:t>2023.7.10</a:t>
            </a:r>
            <a:endParaRPr kumimoji="0" lang="zh-CN" altLang="en-US" sz="1800" b="1" i="1" u="none" strike="noStrike" kern="1200" cap="none" spc="200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Open Sans" panose="020B0606030504020204" pitchFamily="34" charset="0"/>
              <a:ea typeface="Microsoft YaHei" panose="020B0503020204020204" pitchFamily="34" charset="-122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74984" y="609917"/>
            <a:ext cx="10042032" cy="2819083"/>
          </a:xfrm>
          <a:prstGeom prst="rect">
            <a:avLst/>
          </a:prstGeom>
          <a:solidFill>
            <a:srgbClr val="FFC02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Microsoft YaHei" panose="020B0503020204020204" pitchFamily="34" charset="-122"/>
              <a:cs typeface="+mn-cs"/>
              <a:sym typeface="Open Sans" panose="020B0606030504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052320" y="2179320"/>
            <a:ext cx="8097520" cy="3550920"/>
            <a:chOff x="2052320" y="2179320"/>
            <a:chExt cx="8097520" cy="3550920"/>
          </a:xfrm>
        </p:grpSpPr>
        <p:grpSp>
          <p:nvGrpSpPr>
            <p:cNvPr id="12" name="组合 11"/>
            <p:cNvGrpSpPr/>
            <p:nvPr/>
          </p:nvGrpSpPr>
          <p:grpSpPr>
            <a:xfrm>
              <a:off x="2052320" y="2179320"/>
              <a:ext cx="8097520" cy="2489200"/>
              <a:chOff x="2052320" y="1564640"/>
              <a:chExt cx="8097520" cy="2489200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2052320" y="1564640"/>
                <a:ext cx="8097520" cy="24892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cs typeface="+mn-cs"/>
                  <a:sym typeface="Open Sans" panose="020B0606030504020204" pitchFamily="34" charset="0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2453640" y="1706880"/>
                <a:ext cx="72847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1" i="0" u="none" strike="noStrike" kern="1200" cap="none" spc="14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icrosoft YaHei" panose="020B0503020204020204" pitchFamily="34" charset="-122"/>
                    <a:cs typeface="Open Sans" panose="020B0606030504020204" pitchFamily="34" charset="0"/>
                    <a:sym typeface="Open Sans" panose="020B0606030504020204" pitchFamily="34" charset="0"/>
                  </a:rPr>
                  <a:t>THANK YOU</a:t>
                </a:r>
                <a:endParaRPr kumimoji="0" lang="zh-CN" altLang="en-US" sz="7200" b="1" i="0" u="none" strike="noStrike" kern="1200" cap="none" spc="140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cs typeface="Open Sans" panose="020B0606030504020204" pitchFamily="34" charset="0"/>
                  <a:sym typeface="Open Sans" panose="020B0606030504020204" pitchFamily="34" charset="0"/>
                </a:endParaRPr>
              </a:p>
            </p:txBody>
          </p:sp>
          <p:cxnSp>
            <p:nvCxnSpPr>
              <p:cNvPr id="17" name="直接连接符 16"/>
              <p:cNvCxnSpPr/>
              <p:nvPr/>
            </p:nvCxnSpPr>
            <p:spPr>
              <a:xfrm>
                <a:off x="2600960" y="2997200"/>
                <a:ext cx="6959600" cy="0"/>
              </a:xfrm>
              <a:prstGeom prst="line">
                <a:avLst/>
              </a:prstGeom>
              <a:ln w="4762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/>
            <p:cNvGrpSpPr/>
            <p:nvPr/>
          </p:nvGrpSpPr>
          <p:grpSpPr>
            <a:xfrm rot="5400000">
              <a:off x="5829300" y="5196840"/>
              <a:ext cx="533400" cy="533400"/>
              <a:chOff x="10756339" y="3063240"/>
              <a:chExt cx="721360" cy="721360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756339" y="3063240"/>
                <a:ext cx="721360" cy="721360"/>
              </a:xfrm>
              <a:prstGeom prst="ellipse">
                <a:avLst/>
              </a:prstGeom>
              <a:solidFill>
                <a:srgbClr val="FFC0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cs typeface="+mn-cs"/>
                  <a:sym typeface="Open Sans" panose="020B0606030504020204" pitchFamily="34" charset="0"/>
                </a:endParaRPr>
              </a:p>
            </p:txBody>
          </p:sp>
          <p:sp>
            <p:nvSpPr>
              <p:cNvPr id="21" name="燕尾形 20"/>
              <p:cNvSpPr/>
              <p:nvPr/>
            </p:nvSpPr>
            <p:spPr>
              <a:xfrm>
                <a:off x="10939485" y="3246386"/>
                <a:ext cx="355068" cy="355068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anose="020B0606030504020204" pitchFamily="34" charset="0"/>
                  <a:ea typeface="Microsoft YaHei" panose="020B0503020204020204" pitchFamily="34" charset="-122"/>
                  <a:cs typeface="+mn-cs"/>
                  <a:sym typeface="Open Sans" panose="020B0606030504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13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C5B85-5E1F-4900-B546-300D80EE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217868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附：答辩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模版</a:t>
            </a:r>
          </a:p>
        </p:txBody>
      </p:sp>
    </p:spTree>
    <p:extLst>
      <p:ext uri="{BB962C8B-B14F-4D97-AF65-F5344CB8AC3E}">
        <p14:creationId xmlns:p14="http://schemas.microsoft.com/office/powerpoint/2010/main" val="162995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78096" y="5676425"/>
            <a:ext cx="7800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5400" b="1">
                <a:solidFill>
                  <a:schemeClr val="bg1"/>
                </a:solidFill>
                <a:latin typeface="腾讯体" pitchFamily="2" charset="-122"/>
                <a:ea typeface="腾讯体" pitchFamily="2" charset="-122"/>
              </a:rPr>
              <a:t>腾讯游戏魔方工作室群</a:t>
            </a:r>
            <a:endParaRPr kumimoji="1" lang="zh-CN" altLang="en-US" sz="5400" b="1" dirty="0">
              <a:solidFill>
                <a:schemeClr val="bg1"/>
              </a:solidFill>
              <a:latin typeface="腾讯体" pitchFamily="2" charset="-122"/>
              <a:ea typeface="腾讯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76333" y="5900156"/>
            <a:ext cx="3709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spc="100">
                <a:solidFill>
                  <a:schemeClr val="bg1"/>
                </a:solidFill>
                <a:latin typeface="腾讯体" pitchFamily="2" charset="-122"/>
                <a:ea typeface="腾讯体" pitchFamily="2" charset="-122"/>
              </a:rPr>
              <a:t>——</a:t>
            </a:r>
            <a:r>
              <a:rPr kumimoji="1" lang="zh-CN" altLang="en-US" sz="3600" spc="100">
                <a:solidFill>
                  <a:schemeClr val="bg1"/>
                </a:solidFill>
                <a:latin typeface="腾讯体" pitchFamily="2" charset="-122"/>
                <a:ea typeface="腾讯体" pitchFamily="2" charset="-122"/>
              </a:rPr>
              <a:t>校招宣讲会</a:t>
            </a:r>
            <a:endParaRPr kumimoji="1" lang="zh-CN" altLang="en-US" sz="3600" spc="100" dirty="0">
              <a:solidFill>
                <a:schemeClr val="bg1"/>
              </a:solidFill>
              <a:latin typeface="腾讯体" pitchFamily="2" charset="-122"/>
              <a:ea typeface="腾讯体" pitchFamily="2" charset="-122"/>
            </a:endParaRPr>
          </a:p>
        </p:txBody>
      </p:sp>
      <p:pic>
        <p:nvPicPr>
          <p:cNvPr id="3" name="图片 2" descr="图片包含 网站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195" y="2662030"/>
            <a:ext cx="9072465" cy="2495664"/>
          </a:xfrm>
        </p:spPr>
        <p:txBody>
          <a:bodyPr>
            <a:normAutofit/>
          </a:bodyPr>
          <a:lstStyle/>
          <a:p>
            <a:pPr algn="l"/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答辩人：</a:t>
            </a:r>
            <a:r>
              <a:rPr lang="en-US" altLang="zh-CN" sz="2000" dirty="0" err="1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sanzhang</a:t>
            </a:r>
            <a:r>
              <a:rPr lang="en-US" altLang="zh-CN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(</a:t>
            </a:r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张三</a:t>
            </a:r>
            <a:r>
              <a:rPr lang="en-US" altLang="zh-CN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)</a:t>
            </a:r>
            <a:endParaRPr lang="zh-CN" altLang="en-US" sz="2000" dirty="0">
              <a:solidFill>
                <a:srgbClr val="4182D5"/>
              </a:solidFill>
              <a:latin typeface="腾讯体 W7" panose="020C08030202040F0204" pitchFamily="34" charset="-122"/>
              <a:ea typeface="腾讯体 W7" panose="020C08030202040F0204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岗位：</a:t>
            </a:r>
          </a:p>
          <a:p>
            <a:pPr algn="l"/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实习小组：</a:t>
            </a:r>
            <a:r>
              <a:rPr lang="en-US" altLang="zh-CN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XX</a:t>
            </a:r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部门</a:t>
            </a:r>
            <a:r>
              <a:rPr lang="en-US" altLang="zh-CN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/XX</a:t>
            </a:r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中心</a:t>
            </a:r>
            <a:r>
              <a:rPr lang="en-US" altLang="zh-CN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/XX</a:t>
            </a:r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组</a:t>
            </a:r>
          </a:p>
          <a:p>
            <a:pPr algn="l"/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导师：</a:t>
            </a:r>
          </a:p>
          <a:p>
            <a:pPr algn="l"/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直接</a:t>
            </a:r>
            <a:r>
              <a:rPr lang="en-US" altLang="zh-CN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leader:</a:t>
            </a:r>
          </a:p>
          <a:p>
            <a:pPr algn="l"/>
            <a:r>
              <a:rPr lang="zh-CN" altLang="en-US" sz="2000" dirty="0">
                <a:solidFill>
                  <a:srgbClr val="4182D5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入职时间：</a:t>
            </a:r>
            <a:endParaRPr lang="en-US" altLang="zh-CN" sz="2000" dirty="0">
              <a:solidFill>
                <a:srgbClr val="4182D5"/>
              </a:solidFill>
              <a:latin typeface="腾讯体 W7" panose="020C08030202040F0204" pitchFamily="34" charset="-122"/>
              <a:ea typeface="腾讯体 W7" panose="020C08030202040F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 txBox="1"/>
          <p:nvPr/>
        </p:nvSpPr>
        <p:spPr>
          <a:xfrm>
            <a:off x="800365" y="920777"/>
            <a:ext cx="110752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目录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中期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自我介绍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课题研究展示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CN" sz="2800" b="1" dirty="0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AI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使用情况阐述</a:t>
            </a:r>
            <a:endParaRPr lang="en-US" altLang="zh-CN" sz="2800" b="1" dirty="0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总结与思考（可选）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9E662E3-2B5F-BFD3-0672-210B427B7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 txBox="1"/>
          <p:nvPr/>
        </p:nvSpPr>
        <p:spPr>
          <a:xfrm>
            <a:off x="681136" y="1908110"/>
            <a:ext cx="9699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可简单介绍个人基本信息（毕业学校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专业信息等）、兴趣、关注领域及过往非腾讯实习经历等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，请挑选其中最主要的列示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（建议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页）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3" panose="020C04030202040F0204" pitchFamily="34" charset="-122"/>
              <a:ea typeface="腾讯体 W3" panose="020C04030202040F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 txBox="1"/>
          <p:nvPr/>
        </p:nvSpPr>
        <p:spPr>
          <a:xfrm>
            <a:off x="835090" y="839755"/>
            <a:ext cx="7921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1.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自我介绍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1A61F23-300A-53A5-E0D5-AFF341A67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 txBox="1"/>
          <p:nvPr/>
        </p:nvSpPr>
        <p:spPr>
          <a:xfrm>
            <a:off x="793633" y="266100"/>
            <a:ext cx="10399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2 . </a:t>
            </a:r>
            <a:r>
              <a:rPr lang="zh-CN" altLang="en-US" sz="3200" b="1" dirty="0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课题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研究展示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/>
          <p:nvPr/>
        </p:nvSpPr>
        <p:spPr>
          <a:xfrm>
            <a:off x="892053" y="1060385"/>
            <a:ext cx="9866651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1" indent="-342900" algn="l" defTabSz="914400" rtl="0" eaLnBrk="1" fontAlgn="auto" latinLnBrk="0" hangingPunct="1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设计目标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即为什么要进行这个设计，接下来的目标是什么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1" indent="-342900" algn="l" defTabSz="914400" rtl="0" eaLnBrk="1" fontAlgn="auto" latinLnBrk="0" hangingPunct="1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设计方案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1" algn="l" defTabSz="914400" rtl="0" eaLnBrk="1" fontAlgn="auto" latinLnBrk="0" hangingPunct="1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设计方案介绍，即准备如何实现？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1" indent="-342900">
              <a:lnSpc>
                <a:spcPts val="2400"/>
              </a:lnSpc>
              <a:spcBef>
                <a:spcPts val="3000"/>
              </a:spcBef>
              <a:buSzPct val="160000"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项目计划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ts val="2400"/>
              </a:lnSpc>
              <a:spcBef>
                <a:spcPts val="3000"/>
              </a:spcBef>
              <a:buSzPct val="160000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整个项目推进的时间安排</a:t>
            </a:r>
          </a:p>
          <a:p>
            <a:pPr marL="342900" lvl="1" indent="-342900">
              <a:lnSpc>
                <a:spcPts val="2400"/>
              </a:lnSpc>
              <a:spcBef>
                <a:spcPts val="3000"/>
              </a:spcBef>
              <a:buSzPct val="160000"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现有内容呈现与预期效果展望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ts val="2400"/>
              </a:lnSpc>
              <a:spcBef>
                <a:spcPts val="3000"/>
              </a:spcBef>
              <a:buSzPct val="160000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目前已实现效果的呈现与完成后的预估形态，达成什么样的效果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9297C4-F80D-EE4B-3A35-D0D977CDC3F4}"/>
              </a:ext>
            </a:extLst>
          </p:cNvPr>
          <p:cNvSpPr txBox="1"/>
          <p:nvPr/>
        </p:nvSpPr>
        <p:spPr>
          <a:xfrm>
            <a:off x="596432" y="6401271"/>
            <a:ext cx="9820406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附录需要附上课题的工程地址，用于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review</a:t>
            </a:r>
            <a:endParaRPr lang="zh-CN" altLang="en-US" sz="16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7B0A6-DCD4-B9E8-5E6F-1AF4D442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66DD89B-D841-5A76-8D35-E176ADDD5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E58B884-0137-A337-6B1A-0128354FACC8}"/>
              </a:ext>
            </a:extLst>
          </p:cNvPr>
          <p:cNvSpPr txBox="1"/>
          <p:nvPr/>
        </p:nvSpPr>
        <p:spPr>
          <a:xfrm>
            <a:off x="712610" y="335548"/>
            <a:ext cx="853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3 . AI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使用情况阐述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F6FB6D-0E41-957D-1390-80538934D57D}"/>
              </a:ext>
            </a:extLst>
          </p:cNvPr>
          <p:cNvSpPr txBox="1"/>
          <p:nvPr/>
        </p:nvSpPr>
        <p:spPr>
          <a:xfrm>
            <a:off x="681136" y="1908110"/>
            <a:ext cx="969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可简单介绍在哪些方面应用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AI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、如何使用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AI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等内容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714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439A6ED-1E33-6F0D-8236-DD19459F3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 txBox="1"/>
          <p:nvPr/>
        </p:nvSpPr>
        <p:spPr>
          <a:xfrm>
            <a:off x="712610" y="335548"/>
            <a:ext cx="85328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4 .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总结与思考（可选）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9043-195C-56BF-CB81-43BA42DD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53131E-925F-2129-DA09-281174204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CCB10D7-2B7D-E0BD-3895-93A8B7635310}"/>
              </a:ext>
            </a:extLst>
          </p:cNvPr>
          <p:cNvSpPr txBox="1"/>
          <p:nvPr/>
        </p:nvSpPr>
        <p:spPr>
          <a:xfrm>
            <a:off x="800365" y="920777"/>
            <a:ext cx="110752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目录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末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自我介绍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课题研究展示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项目实习内容秀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总结与思考（可选）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60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D6D9-5616-7369-0968-B2B96C6C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FAD950B-5D8F-0ACC-2CF1-3235D807E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2CB9010-8628-F501-F71D-D3DD44F89A88}"/>
              </a:ext>
            </a:extLst>
          </p:cNvPr>
          <p:cNvSpPr txBox="1"/>
          <p:nvPr/>
        </p:nvSpPr>
        <p:spPr>
          <a:xfrm>
            <a:off x="681136" y="1908110"/>
            <a:ext cx="9699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可简单介绍个人基本信息（毕业学校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专业信息等）、兴趣、关注领域及过往非腾讯实习经历等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，请挑选其中最主要的列示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（建议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3" panose="020C04030202040F0204" pitchFamily="34" charset="-122"/>
                <a:ea typeface="腾讯体 W3" panose="020C04030202040F0204" pitchFamily="34" charset="-122"/>
                <a:cs typeface="+mn-cs"/>
              </a:rPr>
              <a:t>页）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3" panose="020C04030202040F0204" pitchFamily="34" charset="-122"/>
              <a:ea typeface="腾讯体 W3" panose="020C04030202040F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17BC17-944D-5096-958C-1D265E58A760}"/>
              </a:ext>
            </a:extLst>
          </p:cNvPr>
          <p:cNvSpPr txBox="1"/>
          <p:nvPr/>
        </p:nvSpPr>
        <p:spPr>
          <a:xfrm>
            <a:off x="835090" y="839755"/>
            <a:ext cx="7921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1.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自我介绍</a:t>
            </a:r>
          </a:p>
        </p:txBody>
      </p:sp>
    </p:spTree>
    <p:extLst>
      <p:ext uri="{BB962C8B-B14F-4D97-AF65-F5344CB8AC3E}">
        <p14:creationId xmlns:p14="http://schemas.microsoft.com/office/powerpoint/2010/main" val="3059252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15A5-755F-30EE-2BFE-D28F3A03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3132DD3-4A92-DC94-9B6A-C7FDB19F9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37C73AB-A313-A79B-6FDA-9EAEEF74DA4E}"/>
              </a:ext>
            </a:extLst>
          </p:cNvPr>
          <p:cNvSpPr txBox="1"/>
          <p:nvPr/>
        </p:nvSpPr>
        <p:spPr>
          <a:xfrm>
            <a:off x="793633" y="266100"/>
            <a:ext cx="10399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2 . </a:t>
            </a:r>
            <a:r>
              <a:rPr lang="zh-CN" altLang="en-US" sz="3200" b="1" dirty="0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课题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研究展示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A0DF0F-92D0-6DD9-DF68-86EF9C41A3AD}"/>
              </a:ext>
            </a:extLst>
          </p:cNvPr>
          <p:cNvSpPr/>
          <p:nvPr/>
        </p:nvSpPr>
        <p:spPr>
          <a:xfrm>
            <a:off x="897804" y="1238664"/>
            <a:ext cx="9866651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1" indent="-342900" algn="l" defTabSz="914400" rtl="0" eaLnBrk="1" fontAlgn="auto" latinLnBrk="0" hangingPunct="1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项目演示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1" indent="-342900" algn="l" defTabSz="914400" rtl="0" eaLnBrk="1" fontAlgn="auto" latinLnBrk="0" hangingPunct="1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设计思路解析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1" indent="-342900">
              <a:lnSpc>
                <a:spcPts val="2400"/>
              </a:lnSpc>
              <a:spcBef>
                <a:spcPts val="3000"/>
              </a:spcBef>
              <a:buSzPct val="160000"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关键技术点设计及实现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ts val="2400"/>
              </a:lnSpc>
              <a:spcBef>
                <a:spcPts val="3000"/>
              </a:spcBef>
              <a:buSzPct val="160000"/>
              <a:buFont typeface="Wingdings" pitchFamily="2" charset="2"/>
              <a:buChar char="Ø"/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应用介绍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ts val="2400"/>
              </a:lnSpc>
              <a:spcBef>
                <a:spcPts val="3000"/>
              </a:spcBef>
              <a:buSzPct val="160000"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分析报告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ts val="2400"/>
              </a:lnSpc>
              <a:spcBef>
                <a:spcPts val="3000"/>
              </a:spcBef>
              <a:buSzPct val="160000"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项目结果分析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640EC3-6887-E2B7-800D-E47D0D75D599}"/>
              </a:ext>
            </a:extLst>
          </p:cNvPr>
          <p:cNvSpPr txBox="1"/>
          <p:nvPr/>
        </p:nvSpPr>
        <p:spPr>
          <a:xfrm>
            <a:off x="676945" y="5981710"/>
            <a:ext cx="9820406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附录需要附上课题的工程地址，用于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review</a:t>
            </a:r>
            <a:endParaRPr lang="zh-CN" altLang="en-US" sz="16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8177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5885C-E1D1-3E59-3B3E-92419866A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D7F0DF9-A72D-696E-C064-C6A2DADD0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73FC0D0-97E2-6BAF-8A15-36AF113FDB8D}"/>
              </a:ext>
            </a:extLst>
          </p:cNvPr>
          <p:cNvSpPr txBox="1"/>
          <p:nvPr/>
        </p:nvSpPr>
        <p:spPr>
          <a:xfrm>
            <a:off x="793633" y="266100"/>
            <a:ext cx="10399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3 . </a:t>
            </a:r>
            <a:r>
              <a:rPr lang="zh-CN" altLang="en-US" sz="3200" b="1" dirty="0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</a:rPr>
              <a:t>项目实习内容秀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614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19531-352A-573E-BE24-91E79033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013F205-C7D3-4953-FFFE-8A208FE2D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5E71C9-1CDB-266C-1CDC-63C1142770D5}"/>
              </a:ext>
            </a:extLst>
          </p:cNvPr>
          <p:cNvSpPr txBox="1"/>
          <p:nvPr/>
        </p:nvSpPr>
        <p:spPr>
          <a:xfrm>
            <a:off x="712610" y="335548"/>
            <a:ext cx="85328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4 .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总结与思考（可选）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2228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2"/>
          <p:cNvSpPr/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3" name="图片 2" descr="文本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205" y="4888865"/>
            <a:ext cx="2782570" cy="12966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56100" y="3288030"/>
            <a:ext cx="29211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腾讯体" pitchFamily="2" charset="-122"/>
                <a:ea typeface="腾讯体" pitchFamily="2" charset="-122"/>
              </a:rPr>
              <a:t>THANKS</a:t>
            </a:r>
            <a:endParaRPr lang="zh-CN" altLang="en-US" sz="4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6633-EE66-455F-2293-8FED3DE7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26EDA-A67B-8B7D-2AB0-1BF3DFB6B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2178685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浅色背景可用此页</a:t>
            </a:r>
          </a:p>
        </p:txBody>
      </p:sp>
    </p:spTree>
    <p:extLst>
      <p:ext uri="{BB962C8B-B14F-4D97-AF65-F5344CB8AC3E}">
        <p14:creationId xmlns:p14="http://schemas.microsoft.com/office/powerpoint/2010/main" val="22476133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2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FFB21A"/>
      </a:accent1>
      <a:accent2>
        <a:srgbClr val="ED575A"/>
      </a:accent2>
      <a:accent3>
        <a:srgbClr val="F29283"/>
      </a:accent3>
      <a:accent4>
        <a:srgbClr val="689F81"/>
      </a:accent4>
      <a:accent5>
        <a:srgbClr val="FCB699"/>
      </a:accent5>
      <a:accent6>
        <a:srgbClr val="51B0D0"/>
      </a:accent6>
      <a:hlink>
        <a:srgbClr val="FFB21A"/>
      </a:hlink>
      <a:folHlink>
        <a:srgbClr val="FFC02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6E4E4"/>
    </a:lt2>
    <a:accent1>
      <a:srgbClr val="FFB21A"/>
    </a:accent1>
    <a:accent2>
      <a:srgbClr val="ED575A"/>
    </a:accent2>
    <a:accent3>
      <a:srgbClr val="F29283"/>
    </a:accent3>
    <a:accent4>
      <a:srgbClr val="689F81"/>
    </a:accent4>
    <a:accent5>
      <a:srgbClr val="FCB699"/>
    </a:accent5>
    <a:accent6>
      <a:srgbClr val="51B0D0"/>
    </a:accent6>
    <a:hlink>
      <a:srgbClr val="FFB21A"/>
    </a:hlink>
    <a:folHlink>
      <a:srgbClr val="FFC02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12283</TotalTime>
  <Words>616</Words>
  <Application>Microsoft Office PowerPoint</Application>
  <PresentationFormat>宽屏</PresentationFormat>
  <Paragraphs>119</Paragraphs>
  <Slides>20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等线 Light</vt:lpstr>
      <vt:lpstr>腾讯体</vt:lpstr>
      <vt:lpstr>腾讯体 W3</vt:lpstr>
      <vt:lpstr>腾讯体 W7</vt:lpstr>
      <vt:lpstr>微软雅黑</vt:lpstr>
      <vt:lpstr>Arial</vt:lpstr>
      <vt:lpstr>Calibri</vt:lpstr>
      <vt:lpstr>Open Sans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附：答辩PPT模版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浅色背景可用此页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qichenxu</dc:creator>
  <cp:lastModifiedBy>T164056</cp:lastModifiedBy>
  <cp:revision>207</cp:revision>
  <cp:lastPrinted>2022-07-09T09:05:21Z</cp:lastPrinted>
  <dcterms:created xsi:type="dcterms:W3CDTF">2021-07-13T11:32:21Z</dcterms:created>
  <dcterms:modified xsi:type="dcterms:W3CDTF">2026-07-20T07:18:27Z</dcterms:modified>
</cp:coreProperties>
</file>